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8F8F8"/>
                </a:solidFill>
                <a:latin typeface="Arial"/>
              </a:rPr>
              <a:t>avatiser.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3035808"/>
            <a:ext cx="146304" cy="146304"/>
          </a:xfrm>
          <a:prstGeom prst="roundRect">
            <a:avLst>
              <a:gd name="adj" fmla="val 100000"/>
            </a:avLst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300">
                <a:solidFill>
                  <a:srgbClr val="B8B8B8"/>
                </a:solidFill>
                <a:latin typeface="Arial"/>
              </a:rPr>
              <a:t>SERVICES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6E"/>
                </a:solidFill>
                <a:latin typeface="Arial"/>
              </a:rPr>
              <a:t>every asset we can produce — branding, e-commerce, social, video,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663440"/>
            <a:ext cx="2194560" cy="18288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6E"/>
                </a:solidFill>
                <a:latin typeface="Arial"/>
              </a:rPr>
              <a:t>produced with AI · directed by humans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THE 2026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Why this catalog wins on price and 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4028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FB8A4"/>
                </a:solidFill>
                <a:latin typeface="Arial"/>
              </a:rPr>
              <a:t>$42,280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17520"/>
            <a:ext cx="2139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average agency cost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per video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1965960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24028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FB8A4"/>
                </a:solidFill>
                <a:latin typeface="Arial"/>
              </a:rPr>
              <a:t>$25–75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3017520"/>
            <a:ext cx="2139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per white-bg product image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(Amazon/PDP listing)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65960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24028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FB8A4"/>
                </a:solidFill>
                <a:latin typeface="Arial"/>
              </a:rPr>
              <a:t>$198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3017520"/>
            <a:ext cx="2139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average cost per human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UGC video deliverable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1965960"/>
            <a:ext cx="2542032" cy="182880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24028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FB8A4"/>
                </a:solidFill>
                <a:latin typeface="Arial"/>
              </a:rPr>
              <a:t>29%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017520"/>
            <a:ext cx="2139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growth of the UGC content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market through 2034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F8F8F8"/>
                </a:solidFill>
                <a:latin typeface="Arial"/>
              </a:rPr>
              <a:t>Traditional production has priced itself out of reach for most brands. AI-first studios deliver comparable output at 5–20% of that cost — and buyers already know it. The question a brand asks in 2026 isn't “AI or not AI” anymore, it's “can I tell?” and “how fast can you turn it around?”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F8F8F8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F8F8F8"/>
                </a:solidFill>
                <a:latin typeface="Arial"/>
              </a:rPr>
              <a:t>Avatiser's wedge: agency-grade realism, at creator-economy prices, in 48 hours.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LEGEND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How to read every entry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D6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8F8F8"/>
                </a:solidFill>
                <a:latin typeface="Arial"/>
              </a:rPr>
              <a:t>Market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385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B8"/>
                </a:solidFill>
                <a:latin typeface="Arial"/>
              </a:rPr>
              <a:t>what traditional agencies / freelancers charge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7F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8F8F8"/>
                </a:solidFill>
                <a:latin typeface="Arial"/>
              </a:rPr>
              <a:t>Our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243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B8"/>
                </a:solidFill>
                <a:latin typeface="Arial"/>
              </a:rPr>
              <a:t>the price band Avatiser sells this asset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101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8F8F8"/>
                </a:solidFill>
                <a:latin typeface="Arial"/>
              </a:rPr>
              <a:t>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101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8B8B8"/>
                </a:solidFill>
                <a:latin typeface="Arial"/>
              </a:rPr>
              <a:t>which part of the Avatiser production stack builds it — FLOW canvas, the studio engine, or a manual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6E6E6E"/>
                </a:solidFill>
                <a:latin typeface="Arial"/>
              </a:rPr>
              <a:t>ELEVEN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463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8F8F8"/>
                </a:solidFill>
                <a:latin typeface="Arial"/>
              </a:rPr>
              <a:t>E-commerce &amp; Product  ·  UGC &amp; Creator Content  ·  Performance/Paid Social  ·  Organic Social  ·  Video &amp; Film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F8F8F8"/>
                </a:solidFill>
                <a:latin typeface="Arial"/>
              </a:rPr>
              <a:t>Branding &amp; Identity  ·  Website &amp; Digital  ·  Email &amp; Lifecycle  ·  Retail/Print/OOH  ·  B2B &amp; Corporate  ·  Emerging/Premium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CATEGORY A — E-COMMERCE &amp; PRODUCT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Product photography that never books a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PDP heroes, lifestyle sets, macro detail, full listing packs — the highest-demand, fastest-to-sell segment.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6400800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21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MARKET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OUR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Full PDP pack (7–9 images)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15184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$500–2,000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1518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$249–449 /SKU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Catalog-scale (50–500 SKUs)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8211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$125–250k/yr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8211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$3k–15k /project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Lifestyle &amp; context 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$100–500 /img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490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$40–90 /img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360° / multi-angle 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1596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$150–400 /SKU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1596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$60–120 /SKU</a:t>
            </a:r>
          </a:p>
        </p:txBody>
      </p:sp>
      <p:pic>
        <p:nvPicPr>
          <p:cNvPr id="26" name="Picture 25" descr="_de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48840"/>
            <a:ext cx="4343400" cy="244144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178040" y="2148840"/>
            <a:ext cx="4343400" cy="2441448"/>
          </a:xfrm>
          <a:prstGeom prst="rect">
            <a:avLst/>
          </a:prstGeom>
          <a:noFill/>
          <a:ln w="12700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70001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Example: Olivia — suncare product film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CATEGORY B — UGC &amp; CREATOR-STYLE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2026's hottest content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AI creators deliver the same authentic, phone-shot energy as human UGC — without usage fees or creator churn.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6400800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21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MARKET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OUR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UGC-style video 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15184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$198 /video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1518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$99–199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UGC variations pack (×5)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8211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$500–1,500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8211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$299–499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AI brand ambassador (recurring)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$2k–10k/mo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490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$500–1,500/mo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Unboxing / first-impression clips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1596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$150–350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1596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$79–149</a:t>
            </a:r>
          </a:p>
        </p:txBody>
      </p:sp>
      <p:pic>
        <p:nvPicPr>
          <p:cNvPr id="26" name="Picture 25" descr="_de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331720" cy="397763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315200" y="2148840"/>
            <a:ext cx="2331720" cy="3977639"/>
          </a:xfrm>
          <a:prstGeom prst="rect">
            <a:avLst/>
          </a:prstGeom>
          <a:noFill/>
          <a:ln w="12700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6236207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Example: Flextail — UGC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CATEGORY C — PERFORMANCE &amp; PAID-SOCIAL 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The volume game — where retainers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Static and video ad creative built for Meta/TikTok/YouTube, tested at scale across hooks and audiences.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6400800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21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MARKET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OUR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Video ads (6s/15s/30s cuts)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15184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$100–500 /video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1518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$79–199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Creative-testing matrix (10–20 var.)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8211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$1k–3k /batch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8211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$499–999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Monthly creative retainer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€4k–21.5k/mo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490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$1.5k–5k/mo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Ad localization (per market)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1596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$200–500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1596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$99–199</a:t>
            </a:r>
          </a:p>
        </p:txBody>
      </p:sp>
      <p:pic>
        <p:nvPicPr>
          <p:cNvPr id="26" name="Picture 25" descr="_de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48840"/>
            <a:ext cx="4343400" cy="244144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178040" y="2148840"/>
            <a:ext cx="4343400" cy="2441448"/>
          </a:xfrm>
          <a:prstGeom prst="rect">
            <a:avLst/>
          </a:prstGeom>
          <a:noFill/>
          <a:ln w="12700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70001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Example: Ikonic Professional — hero reel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CATEGORY D — ORGANIC SOCIAL MEDIA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The always-on content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Calendars, reels, carousels and profile kits that keep a brand feed alive between campaigns.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6400800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21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MARKET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OUR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Monthly content calendar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15184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$1k–5k/mo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1518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$499–1,999/mo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Reels / Shorts (entertainment-led)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8211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$150–500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8211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$99–199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Carousel posts (3–8 slides)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$100–300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490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$59–129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Founder / personal-brand visuals*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1596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$500–2k/shoot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1596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$199–399/set</a:t>
            </a:r>
          </a:p>
        </p:txBody>
      </p:sp>
      <p:pic>
        <p:nvPicPr>
          <p:cNvPr id="26" name="Picture 25" descr="_de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331720" cy="397763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315200" y="2148840"/>
            <a:ext cx="2331720" cy="3977639"/>
          </a:xfrm>
          <a:prstGeom prst="rect">
            <a:avLst/>
          </a:prstGeom>
          <a:noFill/>
          <a:ln w="12700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6236207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Example: Signature — fragrance macro film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CATEGORY E — VIDEO &amp; FILM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The flagship — shots no camera could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From cinematic product films to CGI-impossible spectacle ads. This is the portfolio’s lead category.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6400800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21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MARKET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OUR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Cinematic product film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15184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$5k–20k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1518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$499–1,999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Brand anthem film (60–90s)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8211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$10k–50k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8211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$1,499–4,999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Product hero loops (web/retail)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$1k–3k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490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$199–499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"Impossible-shot" spectacle 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1596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$10k+ (CGI)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1596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$799–1,999</a:t>
            </a:r>
          </a:p>
        </p:txBody>
      </p:sp>
      <p:pic>
        <p:nvPicPr>
          <p:cNvPr id="26" name="Picture 25" descr="_de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331720" cy="397763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315200" y="2148840"/>
            <a:ext cx="2331720" cy="3977639"/>
          </a:xfrm>
          <a:prstGeom prst="rect">
            <a:avLst/>
          </a:prstGeom>
          <a:noFill/>
          <a:ln w="12700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6236207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Example: Hair Dryer — x-ray hero reel (impossible shot)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CATEGORY F — BRANDING &amp;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A proprietary visual world, not a logo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Skip commoditized logo work — sell full brand imagery systems nobody else can price this 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6400800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21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MARKET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OUR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Brand imagery system (15–30 img)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15184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$2k–8k shoot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1518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$399–999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Visual identity starter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8211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$2k–15k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8211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$499–1,499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Brand mascot / character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$2k–10k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490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$499–1,299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Packaging concept 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1596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$1k–5k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1596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$299–799</a:t>
            </a:r>
          </a:p>
        </p:txBody>
      </p:sp>
      <p:pic>
        <p:nvPicPr>
          <p:cNvPr id="26" name="Picture 25" descr="_de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48840"/>
            <a:ext cx="4343400" cy="244144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178040" y="2148840"/>
            <a:ext cx="4343400" cy="2441448"/>
          </a:xfrm>
          <a:prstGeom prst="rect">
            <a:avLst/>
          </a:prstGeom>
          <a:noFill/>
          <a:ln w="12700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70001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Example: Eyeliner — macro product film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CATEGORY G — WEBSITE &amp; DIGITAL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Every pixel a site actually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Hero loops, imagery kits and landing visuals — the same system that built avatiser.com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6400800" cy="384048"/>
          </a:xfrm>
          <a:prstGeom prst="rect">
            <a:avLst/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21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MARKET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100">
                <a:solidFill>
                  <a:srgbClr val="6E6E6E"/>
                </a:solidFill>
                <a:latin typeface="Arial"/>
              </a:rPr>
              <a:t>OUR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Full site imagery kit (10–25 img)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15184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$2k–6k shoot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15184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$499–1,299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Website hero visuals / 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8211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$500–2k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8211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$149–399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6400800" cy="56692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Landing-page visual 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$800–2,500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490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$299–699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6400800" cy="566928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1596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8F8F8"/>
                </a:solidFill>
                <a:latin typeface="Arial"/>
              </a:rPr>
              <a:t>Icon &amp; illustration 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15968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D68F8F"/>
                </a:solidFill>
                <a:latin typeface="Arial"/>
              </a:rPr>
              <a:t>$500–3k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1596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8A4"/>
                </a:solidFill>
                <a:latin typeface="Arial"/>
              </a:rPr>
              <a:t>$199–599</a:t>
            </a:r>
          </a:p>
        </p:txBody>
      </p:sp>
      <p:pic>
        <p:nvPicPr>
          <p:cNvPr id="26" name="Picture 25" descr="_de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331720" cy="397763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315200" y="2148840"/>
            <a:ext cx="2331720" cy="3977639"/>
          </a:xfrm>
          <a:prstGeom prst="rect">
            <a:avLst/>
          </a:prstGeom>
          <a:noFill/>
          <a:ln w="12700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6236207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Example: Haircare — UGC campaign reel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CATEGORIES H–K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Supporting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B8B8B8"/>
                </a:solidFill>
                <a:latin typeface="Arial"/>
              </a:rPr>
              <a:t>Smaller standalone deal sizes — sell as add-ons to the categories above, not as lead offers.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22199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8A4"/>
                </a:solidFill>
                <a:latin typeface="Arial"/>
              </a:rPr>
              <a:t>H · Email &amp;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Email hero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0215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Flow visual kits (welcome/abandon)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15384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Animated email GIFs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28616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Newsletter template visuals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210312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9272" y="21031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22199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8A4"/>
                </a:solidFill>
                <a:latin typeface="Arial"/>
              </a:rPr>
              <a:t>I · Retail, Print &amp; OOH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788920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Billboard / OOH key visuals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50215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POS / shelf 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4215384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Print-ad adaptations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4928616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Retail screen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210312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89904" y="21031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22199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8A4"/>
                </a:solidFill>
                <a:latin typeface="Arial"/>
              </a:rPr>
              <a:t>J · B2B &amp; Corporate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788920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Pitch-deck visual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350215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LinkedIn content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4215384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"Team-in-action" imagery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4928616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Explainer / demo videos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0536" y="210312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0F0F0F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0536" y="210312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952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5128" y="222199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8A4"/>
                </a:solidFill>
                <a:latin typeface="Arial"/>
              </a:rPr>
              <a:t>K · Emerging / 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2788920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AI spokesperson program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350215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Shoppable video kits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4215384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Product-drop world-building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4928616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·  3D spins / AR previews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Productized packages — fixed price, fixed scope, 48h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1064240" cy="777240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055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8F8"/>
                </a:solidFill>
                <a:latin typeface="Arial"/>
              </a:rPr>
              <a:t>PDP Power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10312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7FB8A4"/>
                </a:solidFill>
                <a:latin typeface="Arial"/>
              </a:rPr>
              <a:t>$349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4963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/ SKU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14884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8-image full listing pack (hero, lifestyle, macro, infographics)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16352"/>
            <a:ext cx="11064240" cy="777240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8F8"/>
                </a:solidFill>
                <a:latin typeface="Arial"/>
              </a:rPr>
              <a:t>Launch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53512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7FB8A4"/>
                </a:solidFill>
                <a:latin typeface="Arial"/>
              </a:rPr>
              <a:t>$999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46704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one-time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999232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PDP pack + hero film + 3 UGC ads + 10 social posts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66744"/>
            <a:ext cx="11064240" cy="777240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31336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8F8"/>
                </a:solidFill>
                <a:latin typeface="Arial"/>
              </a:rPr>
              <a:t>UGC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03904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7FB8A4"/>
                </a:solidFill>
                <a:latin typeface="Arial"/>
              </a:rPr>
              <a:t>$499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19709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49624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5 UGC videos + 5 creator stills, every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17136"/>
            <a:ext cx="11064240" cy="777240"/>
          </a:xfrm>
          <a:prstGeom prst="rect">
            <a:avLst/>
          </a:prstGeom>
          <a:noFill/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8F8"/>
                </a:solidFill>
                <a:latin typeface="Arial"/>
              </a:rPr>
              <a:t>The Full 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5429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7FB8A4"/>
                </a:solidFill>
                <a:latin typeface="Arial"/>
              </a:rPr>
              <a:t>$2,499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04748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one-time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700016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Complete brand campaign — all 10 deliverables + film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67528"/>
            <a:ext cx="11064240" cy="777240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8F8F8"/>
                </a:solidFill>
                <a:latin typeface="Arial"/>
              </a:rPr>
              <a:t>Creative Retainer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50468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7FB8A4"/>
                </a:solidFill>
                <a:latin typeface="Arial"/>
              </a:rPr>
              <a:t>$1,999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89788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/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55040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8B8B8"/>
                </a:solidFill>
                <a:latin typeface="Arial"/>
              </a:rPr>
              <a:t>15 videos + 30 statics, 2 revision rounds, 72h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Pricing rules &amp; priority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6E6E6E"/>
                </a:solidFill>
                <a:latin typeface="Arial"/>
              </a:rPr>
              <a:t>PRICING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32304"/>
            <a:ext cx="82296" cy="82296"/>
          </a:xfrm>
          <a:prstGeom prst="rect">
            <a:avLst/>
          </a:prstGeom>
          <a:solidFill>
            <a:srgbClr val="7F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Anchor every proposal against the market rate — always show the agency number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73552"/>
            <a:ext cx="82296" cy="82296"/>
          </a:xfrm>
          <a:prstGeom prst="rect">
            <a:avLst/>
          </a:prstGeom>
          <a:solidFill>
            <a:srgbClr val="7F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Never price per-hour. Price per-asset or per-outcome — falling production cost is our margin, not the client’s discount.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82296" cy="82296"/>
          </a:xfrm>
          <a:prstGeom prst="rect">
            <a:avLst/>
          </a:prstGeom>
          <a:solidFill>
            <a:srgbClr val="7F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4164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First deal = free 3-visual sample → PDP pack → retainer. Land, prove, expand.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56048"/>
            <a:ext cx="82296" cy="82296"/>
          </a:xfrm>
          <a:prstGeom prst="rect">
            <a:avLst/>
          </a:prstGeom>
          <a:solidFill>
            <a:srgbClr val="7F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82896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2 revision rounds included, then $49/asset — protects against infinite-tweak clients.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6E6E6E"/>
                </a:solidFill>
                <a:latin typeface="Arial"/>
              </a:rPr>
              <a:t>PRIORITY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77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414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7FB8A4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3591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PDP packs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6700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clearest ROI story — start outbound tomorrow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63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1272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7FB8A4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44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UGC 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3558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hottest segment, 29% CAGR market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8130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7FB8A4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Creative retainers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0416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pursue after 3–5 project clients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34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988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7FB8A4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44165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Impossible-shot films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7274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portfolio flagship + PR magnet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120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1846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7FB8A4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51023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Brand imagery 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54132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differentiated, low competition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20">
                <a:solidFill>
                  <a:srgbClr val="6E6E6E"/>
                </a:solidFill>
                <a:latin typeface="Arial"/>
              </a:rPr>
              <a:t>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8F8"/>
                </a:solidFill>
                <a:latin typeface="Arial"/>
              </a:rPr>
              <a:t>What we don't sell (yet)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881360" cy="74980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13969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68F8F"/>
                </a:solidFill>
                <a:latin typeface="Arial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Media buying / running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57984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different skill, different liability — partner instead, keep the creative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71216"/>
            <a:ext cx="10881360" cy="74980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999232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68F8F"/>
                </a:solidFill>
                <a:latin typeface="Arial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80944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SEO / blog-content 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017520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off-brand, commoditized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30752"/>
            <a:ext cx="10881360" cy="74980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85876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68F8F"/>
                </a:solidFill>
                <a:latin typeface="Arial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Real-person deepfakes or celebrity likenesses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77056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never — consented client-founder content only, in writing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0288"/>
            <a:ext cx="10881360" cy="74980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71830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68F8F"/>
                </a:solidFill>
                <a:latin typeface="Arial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0016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Standalone logo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736592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crowded market — sell only inside identity packs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49824"/>
            <a:ext cx="10881360" cy="749808"/>
          </a:xfrm>
          <a:prstGeom prst="rect">
            <a:avLst/>
          </a:prstGeom>
          <a:solidFill>
            <a:srgbClr val="0F0F0F"/>
          </a:solidFill>
          <a:ln w="635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577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68F8F"/>
                </a:solidFill>
                <a:latin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5955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8F8F8"/>
                </a:solidFill>
                <a:latin typeface="Arial"/>
              </a:rPr>
              <a:t>Live-action shoots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596128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B8B8"/>
                </a:solidFill>
                <a:latin typeface="Arial"/>
              </a:rPr>
              <a:t>the moment we rent a camera, we’re competing in the market we’re disrupting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8F8F8"/>
                </a:solidFill>
                <a:latin typeface="Arial"/>
              </a:rPr>
              <a:t>avatiser.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8B8B8"/>
                </a:solidFill>
                <a:latin typeface="Arial"/>
              </a:rPr>
              <a:t>produced with AI — directed by humans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77639"/>
            <a:ext cx="1828800" cy="18288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6E"/>
                </a:solidFill>
                <a:latin typeface="Arial"/>
              </a:rPr>
              <a:t>full detail + editable data: business/SERVICES_CATALOG.md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50">
                <a:solidFill>
                  <a:srgbClr val="6E6E6E"/>
                </a:solidFill>
                <a:latin typeface="Arial"/>
              </a:rPr>
              <a:t>avatiser. studios — services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>
                <a:solidFill>
                  <a:srgbClr val="6E6E6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